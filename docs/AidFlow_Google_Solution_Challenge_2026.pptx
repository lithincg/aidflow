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mart-resource-allocatio-3e4d2.web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smart-resource-allocatio-3e4d2.web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85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AidFlow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8"/>
                </a:solidFill>
              </a:rPr>
              <a:t>Adaptive AI-native crisis coordination for NGOs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029968"/>
            <a:ext cx="5394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noisy field reports to ranked needs, duplicate warnings, and volunteer dispatch in one live Firebase workspace.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041648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123944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</a:rPr>
              <a:t>Cloud deployment: Firebase Hosting + Firestore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20440" y="4041648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34A853">
              <a:alpha val="18000"/>
            </a:srgbClr>
          </a:solidFill>
          <a:ln w="12700">
            <a:solidFill>
              <a:srgbClr val="34A853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4123944"/>
            <a:ext cx="1636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A853"/>
                </a:solidFill>
              </a:rPr>
              <a:t>Google AI: Gemini Flash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532120" y="40416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BBC04">
              <a:alpha val="18000"/>
            </a:srgbClr>
          </a:solidFill>
          <a:ln w="12700">
            <a:solidFill>
              <a:srgbClr val="FBBC04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4123944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C04"/>
                </a:solidFill>
              </a:rPr>
              <a:t>Live MVP verified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06640" y="731520"/>
            <a:ext cx="3931920" cy="5074920"/>
          </a:xfrm>
          <a:prstGeom prst="roundRect">
            <a:avLst>
              <a:gd name="adj" fmla="val 1860"/>
            </a:avLst>
          </a:prstGeom>
          <a:solidFill>
            <a:srgbClr val="0E1422"/>
          </a:solidFill>
          <a:ln w="12700">
            <a:solidFill>
              <a:srgbClr val="2531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26680" y="1051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</a:rPr>
              <a:t>Field report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26680" y="141732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51D2E"/>
          </a:solidFill>
          <a:ln w="12700">
            <a:solidFill>
              <a:srgbClr val="2A3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16276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2FF"/>
                </a:solidFill>
              </a:rPr>
              <a:t>Bridge blocked near Ward 5; elderly residents need medicine delivery.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72600" y="2331720"/>
            <a:ext cx="0" cy="457200"/>
          </a:xfrm>
          <a:prstGeom prst="line">
            <a:avLst/>
          </a:prstGeom>
          <a:noFill/>
          <a:ln w="12700">
            <a:solidFill>
              <a:srgbClr val="4FD1C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2944368"/>
            <a:ext cx="3291840" cy="1115568"/>
          </a:xfrm>
          <a:prstGeom prst="roundRect">
            <a:avLst>
              <a:gd name="adj" fmla="val 6557"/>
            </a:avLst>
          </a:prstGeom>
          <a:solidFill>
            <a:srgbClr val="101A2B"/>
          </a:solidFill>
          <a:ln w="12700">
            <a:solidFill>
              <a:srgbClr val="3250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6992" y="32004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Gemini classification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36992" y="35661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EA4335">
              <a:alpha val="18000"/>
            </a:srgbClr>
          </a:solidFill>
          <a:ln w="12700">
            <a:solidFill>
              <a:srgbClr val="EA4335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0144" y="364845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</a:rPr>
              <a:t>HIGH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823960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BC04">
              <a:alpha val="18000"/>
            </a:srgbClr>
          </a:solidFill>
          <a:ln w="12700">
            <a:solidFill>
              <a:srgbClr val="FBBC04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7112" y="364845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C04"/>
                </a:solidFill>
              </a:rPr>
              <a:t>Infrastructure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372600" y="4224528"/>
            <a:ext cx="0" cy="457200"/>
          </a:xfrm>
          <a:prstGeom prst="line">
            <a:avLst/>
          </a:prstGeom>
          <a:noFill/>
          <a:ln w="12700">
            <a:solidFill>
              <a:srgbClr val="4FD1C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26680" y="486460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02016"/>
          </a:solidFill>
          <a:ln w="12700">
            <a:solidFill>
              <a:srgbClr val="2E6B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6992" y="50566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FF7D4"/>
                </a:solidFill>
              </a:rPr>
              <a:t>Priority board updates in real time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SUBMISSION PROFILE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details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7B8"/>
                </a:solidFill>
              </a:rPr>
              <a:t>Team name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2FF"/>
                </a:solidFill>
              </a:rPr>
              <a:t>AidFlow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7B8"/>
                </a:solidFill>
              </a:rPr>
              <a:t>Team leader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Lithin C 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7B8"/>
                </a:solidFill>
              </a:rPr>
              <a:t>Working prototype</a:t>
            </a:r>
            <a:endParaRPr lang="en-US" sz="9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1005840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u="sng" dirty="0">
                <a:solidFill>
                  <a:srgbClr val="4FD1C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https://smart-resource-allocatio-3e4d2.web.app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212848"/>
            <a:ext cx="51206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AF2FF"/>
                </a:solidFill>
              </a:rPr>
              <a:t>During chaotic crises, NGOs receive repeated, multilingual, and incomplete field reports. Coordinators must manually classify urgency, avoid duplicate dispatches, and match volunteers while conditions keep changing.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53328" y="40416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</a:rPr>
              <a:t>AidFlow turns that noisy intake into a live, AI-ranked coordination board for one NGO workspace at a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WHAT AIDFLOW DOES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 about the solution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</a:rPr>
              <a:t>AidFlow is an AI-powered NGO coordination pipeline built on Firebase and Gemini. Field workers submit text, voice, or OCR reports; Gemini classifies urgency and type; the app checks for duplicate/related reports; coordinators assign volunteers and correct AI outputs when needed.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2700">
            <a:solidFill>
              <a:srgbClr val="2C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236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Multimodal intake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61488" y="3218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Text forms, in-browser speech recognition, and image OCR.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0F1728"/>
          </a:solidFill>
          <a:ln w="12700">
            <a:solidFill>
              <a:srgbClr val="2C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236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 prompts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56448" y="3218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Recent coordinator overrides become few-shot examples.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2700">
            <a:solidFill>
              <a:srgbClr val="2C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379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operations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1488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Firestore listeners update needs, volunteers, and status in real time.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4892040" cy="786384"/>
          </a:xfrm>
          <a:prstGeom prst="roundRect">
            <a:avLst>
              <a:gd name="adj" fmla="val 9302"/>
            </a:avLst>
          </a:prstGeom>
          <a:solidFill>
            <a:srgbClr val="0F1728"/>
          </a:solidFill>
          <a:ln w="12700">
            <a:solidFill>
              <a:srgbClr val="2C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4379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Safer dispatch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56448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Duplicate warnings and transaction-based assignments reduce wasted effort.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WHY THIS IS DIFFERENT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Opportunities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2057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</a:rPr>
              <a:t>Different from static forms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2743200"/>
            <a:ext cx="26517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</a:rPr>
              <a:t>AidFlow treats the report stream as messy real-world data: spoken, photographed, multilingual, duplicated, and constantly corrected by humans.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526280" y="16916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2057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BBC04"/>
                </a:solidFill>
              </a:rPr>
              <a:t>Solves coordinator overload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2743200"/>
            <a:ext cx="26517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</a:rPr>
              <a:t>Gemini structures each report, Firestore syncs it instantly, and duplicate checks prevent multiple volunteers from chasing the same incident.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275320" y="16916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0F2118"/>
          </a:solidFill>
          <a:ln w="12700">
            <a:solidFill>
              <a:srgbClr val="276B4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22208" y="20574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4A853"/>
                </a:solidFill>
              </a:rPr>
              <a:t>USP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22208" y="2743200"/>
            <a:ext cx="26517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</a:rPr>
              <a:t>The adaptive learning loop records human overrides and feeds recent corrections back into future prompts, so each NGO can calibrate priority rules over time.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IMPLEMENTED MVP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 offered by the solution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Multilingual Voice-to-Need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English, Hindi, Kannada, Telugu, and Marathi speech input via Web Speech API, then Gemini extraction.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217920" y="15727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Gemini OCR Intake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12280" y="18288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Image reports are compressed, sent to Gemini Vision-style prompts, extracted, classified, and reviewed.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8580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Deduplication Check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3246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Incoming text reports are semantically compared against open reports before save.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1792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Adaptive AI Learning Loop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12280" y="3246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Coordinator changes to urgency/type are logged and reused as few-shot calibration examples.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85800" y="44074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343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Realtime Priority 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80160" y="4663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Firestore subscriptions power live need counts, filters, AI accuracy badge, and status flow.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217920" y="44074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4343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Volunteer Dispatch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12280" y="4663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9AA7B8"/>
                </a:solidFill>
              </a:rPr>
              <a:t>Gemini ranks free volunteers against open needs; Firestore transactions assign and resolve work.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FROM REPORT TO LEARNING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flow diagram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389888" cy="932688"/>
          </a:xfrm>
          <a:prstGeom prst="roundRect">
            <a:avLst>
              <a:gd name="adj" fmla="val 7843"/>
            </a:avLst>
          </a:prstGeom>
          <a:solidFill>
            <a:srgbClr val="0E1422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9842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24963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Voice, text, or OCR report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075688" y="2350008"/>
            <a:ext cx="365760" cy="1618488"/>
          </a:xfrm>
          <a:prstGeom prst="line">
            <a:avLst/>
          </a:prstGeom>
          <a:noFill/>
          <a:ln w="12700">
            <a:solidFill>
              <a:srgbClr val="4285F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32888" y="3493008"/>
            <a:ext cx="1389888" cy="932688"/>
          </a:xfrm>
          <a:prstGeom prst="roundRect">
            <a:avLst>
              <a:gd name="adj" fmla="val 7843"/>
            </a:avLst>
          </a:prstGeom>
          <a:solidFill>
            <a:srgbClr val="0E1422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360273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0048" y="3840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Gemini processing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70048" y="41148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JSON urgency/type extraction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950208" y="3968496"/>
            <a:ext cx="365760" cy="-1618488"/>
          </a:xfrm>
          <a:prstGeom prst="line">
            <a:avLst/>
          </a:prstGeom>
          <a:noFill/>
          <a:ln w="12700">
            <a:solidFill>
              <a:srgbClr val="EA433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07408" y="1874520"/>
            <a:ext cx="1389888" cy="932688"/>
          </a:xfrm>
          <a:prstGeom prst="roundRect">
            <a:avLst>
              <a:gd name="adj" fmla="val 7843"/>
            </a:avLst>
          </a:prstGeom>
          <a:solidFill>
            <a:srgbClr val="0E1422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19842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Dedup check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44568" y="24963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Compare against open org reports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824728" y="2350008"/>
            <a:ext cx="365760" cy="1618488"/>
          </a:xfrm>
          <a:prstGeom prst="line">
            <a:avLst/>
          </a:prstGeom>
          <a:noFill/>
          <a:ln w="12700">
            <a:solidFill>
              <a:srgbClr val="FBBC0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81928" y="3493008"/>
            <a:ext cx="1389888" cy="932688"/>
          </a:xfrm>
          <a:prstGeom prst="roundRect">
            <a:avLst>
              <a:gd name="adj" fmla="val 7843"/>
            </a:avLst>
          </a:prstGeom>
          <a:solidFill>
            <a:srgbClr val="0E1422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60273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19088" y="3840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 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19088" y="41148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Realtime Firestore update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699248" y="3968496"/>
            <a:ext cx="365760" cy="-1618488"/>
          </a:xfrm>
          <a:prstGeom prst="line">
            <a:avLst/>
          </a:prstGeom>
          <a:noFill/>
          <a:ln w="12700">
            <a:solidFill>
              <a:srgbClr val="34A85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56448" y="1874520"/>
            <a:ext cx="1389888" cy="932688"/>
          </a:xfrm>
          <a:prstGeom prst="roundRect">
            <a:avLst>
              <a:gd name="adj" fmla="val 7843"/>
            </a:avLst>
          </a:prstGeom>
          <a:solidFill>
            <a:srgbClr val="0E1422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19842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93608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Coordination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93608" y="24963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Rank and assign volunteers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9573768" y="2350008"/>
            <a:ext cx="365760" cy="1618488"/>
          </a:xfrm>
          <a:prstGeom prst="line">
            <a:avLst/>
          </a:prstGeom>
          <a:noFill/>
          <a:ln w="12700">
            <a:solidFill>
              <a:srgbClr val="4FD1C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30968" y="3493008"/>
            <a:ext cx="1389888" cy="932688"/>
          </a:xfrm>
          <a:prstGeom prst="roundRect">
            <a:avLst>
              <a:gd name="adj" fmla="val 7843"/>
            </a:avLst>
          </a:prstGeom>
          <a:solidFill>
            <a:srgbClr val="0E1422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0696" y="360273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D1C5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68128" y="3840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Learning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68128" y="41148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Overrides feed future prompts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1234440" y="55778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F"/>
                </a:solidFill>
              </a:rPr>
              <a:t>The key loop is not just intake. Human coordinator corrections are persisted, measured, and injected back into Gemini prompts.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CORE SCREENS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Wireframes / mock diagrams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3310128" cy="4187952"/>
          </a:xfrm>
          <a:prstGeom prst="roundRect">
            <a:avLst>
              <a:gd name="adj" fmla="val 2210"/>
            </a:avLst>
          </a:prstGeom>
          <a:solidFill>
            <a:srgbClr val="0D1320"/>
          </a:solidFill>
          <a:ln w="12700">
            <a:solidFill>
              <a:srgbClr val="2B3B5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Submit Need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78408" y="251460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1518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Location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78408" y="310896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20954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Problem description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978408" y="370332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80390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Affected group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78408" y="429768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23125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439826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BFF7D4"/>
                </a:solidFill>
              </a:rPr>
              <a:t>Classify &amp; Submit Need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517136" y="1600200"/>
            <a:ext cx="3310128" cy="4187952"/>
          </a:xfrm>
          <a:prstGeom prst="roundRect">
            <a:avLst>
              <a:gd name="adj" fmla="val 2210"/>
            </a:avLst>
          </a:prstGeom>
          <a:solidFill>
            <a:srgbClr val="0D1320"/>
          </a:solidFill>
          <a:ln w="12700">
            <a:solidFill>
              <a:srgbClr val="2B3B5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91456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Voice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37176" y="251460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261518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Language selector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837176" y="310896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320954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Animated waveform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837176" y="370332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0056" y="380390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Live transcript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837176" y="429768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23125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0056" y="439826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BFF7D4"/>
                </a:solidFill>
              </a:rPr>
              <a:t>Process with AI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111496" y="5074920"/>
            <a:ext cx="36576" cy="9144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1224" y="4937760"/>
            <a:ext cx="36576" cy="22860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30952" y="4782312"/>
            <a:ext cx="36576" cy="384048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4965192"/>
            <a:ext cx="36576" cy="201168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0408" y="4663440"/>
            <a:ext cx="36576" cy="50292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0136" y="4846320"/>
            <a:ext cx="36576" cy="32004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9864" y="5074920"/>
            <a:ext cx="36576" cy="9144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9592" y="4937760"/>
            <a:ext cx="36576" cy="22860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4782312"/>
            <a:ext cx="36576" cy="384048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048" y="4965192"/>
            <a:ext cx="36576" cy="201168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08776" y="4663440"/>
            <a:ext cx="36576" cy="50292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18504" y="4846320"/>
            <a:ext cx="36576" cy="32004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8232" y="5074920"/>
            <a:ext cx="36576" cy="9144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4937760"/>
            <a:ext cx="36576" cy="22860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47688" y="4782312"/>
            <a:ext cx="36576" cy="384048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57416" y="4965192"/>
            <a:ext cx="36576" cy="201168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67144" y="4663440"/>
            <a:ext cx="36576" cy="50292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76872" y="4846320"/>
            <a:ext cx="36576" cy="320040"/>
          </a:xfrm>
          <a:prstGeom prst="rect">
            <a:avLst/>
          </a:prstGeom>
          <a:solidFill>
            <a:srgbClr val="EA4335">
              <a:alpha val="82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75904" y="1600200"/>
            <a:ext cx="3310128" cy="4187952"/>
          </a:xfrm>
          <a:prstGeom prst="roundRect">
            <a:avLst>
              <a:gd name="adj" fmla="val 2210"/>
            </a:avLst>
          </a:prstGeom>
          <a:solidFill>
            <a:srgbClr val="0D1320"/>
          </a:solidFill>
          <a:ln w="12700">
            <a:solidFill>
              <a:srgbClr val="2B3B5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650224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Priority Board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95944" y="251460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78824" y="261518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High Priority count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8695944" y="310896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78824" y="320954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Status filters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8695944" y="370332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78824" y="380390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AA7B8"/>
                </a:solidFill>
              </a:rPr>
              <a:t>Need cards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8695944" y="429768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123125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78824" y="439826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BFF7D4"/>
                </a:solidFill>
              </a:rPr>
              <a:t>Detail modal actions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FIREBASE + GEMINI STACK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0E1422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54203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React 19 + Vite + Tailwind CSS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Hosted on Firebase Hosting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520440" y="12344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0E1422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1435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</a:rPr>
              <a:t>Auth &amp; Tenant 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85032" y="17647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Firebase Authentication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Org picker + 4-digit PIN join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0E1422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Realtime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254203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Cloud Firestore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needs, volunteers, orgs, corrections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098280" y="12344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0E1422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1435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AI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62872" y="17647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Gemini Flash API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AF2FF"/>
                </a:solidFill>
              </a:rPr>
              <a:t>JSON classification, OCR, ranking, dedup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71800" y="2624328"/>
            <a:ext cx="521208" cy="-612648"/>
          </a:xfrm>
          <a:prstGeom prst="line">
            <a:avLst/>
          </a:prstGeom>
          <a:noFill/>
          <a:ln w="12700">
            <a:solidFill>
              <a:srgbClr val="4285F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2011680"/>
            <a:ext cx="530352" cy="612648"/>
          </a:xfrm>
          <a:prstGeom prst="line">
            <a:avLst/>
          </a:prstGeom>
          <a:noFill/>
          <a:ln w="12700">
            <a:solidFill>
              <a:srgbClr val="34A85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49640" y="2606040"/>
            <a:ext cx="521208" cy="-594360"/>
          </a:xfrm>
          <a:prstGeom prst="line">
            <a:avLst/>
          </a:prstGeom>
          <a:noFill/>
          <a:ln w="12700">
            <a:solidFill>
              <a:srgbClr val="FBBC0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41280" y="2542032"/>
            <a:ext cx="-3017520" cy="1709928"/>
          </a:xfrm>
          <a:prstGeom prst="line">
            <a:avLst/>
          </a:prstGeom>
          <a:noFill/>
          <a:ln w="12700">
            <a:solidFill>
              <a:srgbClr val="EA433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26080" y="4133088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102016"/>
          </a:solidFill>
          <a:ln w="12700">
            <a:solidFill>
              <a:srgbClr val="2E6B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4165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F7D4"/>
                </a:solidFill>
              </a:rPr>
              <a:t>Adaptive loop: coordinator override -&gt; corrections collection -&gt; few-shot block -&gt; next Gemini classification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VERIFIED FROM CODEBASE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285F4"/>
                </a:solidFill>
              </a:rPr>
              <a:t>Google Cloud Platform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0" y="158191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Firebase Hosting, Cloud Firestore, Firebase Authentication, Firebase Functions scaffold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14400" y="2020824"/>
            <a:ext cx="9966960" cy="0"/>
          </a:xfrm>
          <a:prstGeom prst="line">
            <a:avLst/>
          </a:prstGeom>
          <a:noFill/>
          <a:ln w="12700">
            <a:solidFill>
              <a:srgbClr val="1C26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50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A853"/>
                </a:solidFill>
              </a:rPr>
              <a:t>Google AI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Gemini Flash model for classification, OCR extraction, volunteer ranking, and duplicate analysis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14400" y="2770632"/>
            <a:ext cx="9966960" cy="0"/>
          </a:xfrm>
          <a:prstGeom prst="line">
            <a:avLst/>
          </a:prstGeom>
          <a:noFill/>
          <a:ln w="12700">
            <a:solidFill>
              <a:srgbClr val="1C26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998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BBC04"/>
                </a:solidFill>
              </a:rPr>
              <a:t>Frontend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0" y="30815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React 19.2, Vite 8, Tailwind CSS 3.4, code-split tabs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14400" y="3520440"/>
            <a:ext cx="9966960" cy="0"/>
          </a:xfrm>
          <a:prstGeom prst="line">
            <a:avLst/>
          </a:prstGeom>
          <a:noFill/>
          <a:ln w="12700">
            <a:solidFill>
              <a:srgbClr val="1C26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4335"/>
                </a:solidFill>
              </a:rPr>
              <a:t>Browser APIs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0" y="383133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Web Speech API for continuous multilingual voice capture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14400" y="4270248"/>
            <a:ext cx="9966960" cy="0"/>
          </a:xfrm>
          <a:prstGeom prst="line">
            <a:avLst/>
          </a:prstGeom>
          <a:noFill/>
          <a:ln w="12700">
            <a:solidFill>
              <a:srgbClr val="1C26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994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FD1C5"/>
                </a:solidFill>
              </a:rPr>
              <a:t>Data safety patterns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58114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Org-scoped queries, authenticated writes, Firestore transactions for assignment state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914400" y="5020056"/>
            <a:ext cx="9966960" cy="0"/>
          </a:xfrm>
          <a:prstGeom prst="line">
            <a:avLst/>
          </a:prstGeom>
          <a:noFill/>
          <a:ln w="12700">
            <a:solidFill>
              <a:srgbClr val="1C26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PROTOTYPE STAGE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Estimated implementation cost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A853"/>
                </a:solidFill>
              </a:rPr>
              <a:t>$0.00 / month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</a:rPr>
              <a:t>Current MVP target using free-tier-friendly Firebase and Gemini development usage.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50876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719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4285F4"/>
                </a:solidFill>
              </a:rPr>
              <a:t>Firebase Spark Plan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35240" y="16824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AF2FF"/>
                </a:solidFill>
              </a:rPr>
              <a:t>Hosting, Auth, and Firestore are enough for demo-scale prototype traffic.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715000" y="262432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8346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4A853"/>
                </a:solidFill>
              </a:rPr>
              <a:t>Gemini free-tier development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5240" y="27980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AF2FF"/>
                </a:solidFill>
              </a:rPr>
              <a:t>Prototype calls use Gemini Flash for low-latency classification and extraction.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715000" y="3739896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9502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BBC04"/>
                </a:solidFill>
              </a:rPr>
              <a:t>Scale path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35240" y="39136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AF2FF"/>
                </a:solidFill>
              </a:rPr>
              <a:t>Move AI calls fully behind Cloud Functions + Secret Manager on Blaze for production security and quotas.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LIVE AND CODE-VERIFIED STATES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snapshots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4617720" cy="3520440"/>
          </a:xfrm>
          <a:prstGeom prst="roundRect">
            <a:avLst>
              <a:gd name="adj" fmla="val 2078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C:\Users\lithi\GitHub\smart-resource-allocation\docs\ppt-assets\deployed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4279392" cy="2880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7365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7B8"/>
                </a:solidFill>
              </a:rPr>
              <a:t>Deployed landing page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23560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01522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1755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Voice Report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59168" y="170078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34A853">
              <a:alpha val="18000"/>
            </a:srgbClr>
          </a:solidFill>
          <a:ln w="12700">
            <a:solidFill>
              <a:srgbClr val="34A853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1783080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A853"/>
                </a:solidFill>
              </a:rPr>
              <a:t>Hindi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989320" y="2487168"/>
            <a:ext cx="36576" cy="201168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9048" y="2414016"/>
            <a:ext cx="36576" cy="274320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08776" y="2340864"/>
            <a:ext cx="36576" cy="347472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18504" y="2267712"/>
            <a:ext cx="36576" cy="420624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28232" y="2194560"/>
            <a:ext cx="36576" cy="493776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2487168"/>
            <a:ext cx="36576" cy="201168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47688" y="2414016"/>
            <a:ext cx="36576" cy="274320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57416" y="2340864"/>
            <a:ext cx="36576" cy="347472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67144" y="2267712"/>
            <a:ext cx="36576" cy="420624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76872" y="2194560"/>
            <a:ext cx="36576" cy="493776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86600" y="2487168"/>
            <a:ext cx="36576" cy="201168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96328" y="2414016"/>
            <a:ext cx="36576" cy="274320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06056" y="2340864"/>
            <a:ext cx="36576" cy="347472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15784" y="2267712"/>
            <a:ext cx="36576" cy="420624"/>
          </a:xfrm>
          <a:prstGeom prst="rect">
            <a:avLst/>
          </a:prstGeom>
          <a:solidFill>
            <a:srgbClr val="EA4335">
              <a:alpha val="80000"/>
            </a:srgbClr>
          </a:solidFill>
          <a:ln w="12700">
            <a:solidFill>
              <a:srgbClr val="EA4335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257860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B8"/>
                </a:solidFill>
              </a:rPr>
              <a:t>AI extracts English description + urgency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8549640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01522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59952" y="1755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 Board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893808" y="170078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34A853">
              <a:alpha val="18000"/>
            </a:srgbClr>
          </a:solidFill>
          <a:ln w="12700">
            <a:solidFill>
              <a:srgbClr val="34A853">
                <a:alpha val="6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66960" y="178308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A853"/>
                </a:solidFill>
              </a:rPr>
              <a:t>AI 92%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759952" y="2121408"/>
            <a:ext cx="1920240" cy="164592"/>
          </a:xfrm>
          <a:prstGeom prst="roundRect">
            <a:avLst>
              <a:gd name="adj" fmla="val 44444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51392" y="2157984"/>
            <a:ext cx="15544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EA4335"/>
                </a:solidFill>
              </a:rPr>
              <a:t>HIGH Medical</a:t>
            </a:r>
            <a:endParaRPr lang="en-US" sz="580" dirty="0"/>
          </a:p>
        </p:txBody>
      </p:sp>
      <p:sp>
        <p:nvSpPr>
          <p:cNvPr id="37" name="Shape 34"/>
          <p:cNvSpPr/>
          <p:nvPr/>
        </p:nvSpPr>
        <p:spPr>
          <a:xfrm>
            <a:off x="8759952" y="2368296"/>
            <a:ext cx="1920240" cy="164592"/>
          </a:xfrm>
          <a:prstGeom prst="roundRect">
            <a:avLst>
              <a:gd name="adj" fmla="val 44444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51392" y="2404872"/>
            <a:ext cx="15544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FBBC04"/>
                </a:solidFill>
              </a:rPr>
              <a:t>MED Food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8759952" y="2615184"/>
            <a:ext cx="1920240" cy="164592"/>
          </a:xfrm>
          <a:prstGeom prst="roundRect">
            <a:avLst>
              <a:gd name="adj" fmla="val 44444"/>
            </a:avLst>
          </a:prstGeom>
          <a:solidFill>
            <a:srgbClr val="151D2D"/>
          </a:solidFill>
          <a:ln w="12700">
            <a:solidFill>
              <a:srgbClr val="2A385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851392" y="2651760"/>
            <a:ext cx="155448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4A853"/>
                </a:solidFill>
              </a:rPr>
              <a:t>LOW Infra</a:t>
            </a:r>
            <a:endParaRPr lang="en-US" sz="580" dirty="0"/>
          </a:p>
        </p:txBody>
      </p:sp>
      <p:sp>
        <p:nvSpPr>
          <p:cNvPr id="41" name="Shape 38"/>
          <p:cNvSpPr/>
          <p:nvPr/>
        </p:nvSpPr>
        <p:spPr>
          <a:xfrm>
            <a:off x="5623560" y="3364992"/>
            <a:ext cx="5532120" cy="1664208"/>
          </a:xfrm>
          <a:prstGeom prst="roundRect">
            <a:avLst>
              <a:gd name="adj" fmla="val 4396"/>
            </a:avLst>
          </a:prstGeom>
          <a:solidFill>
            <a:srgbClr val="211214"/>
          </a:solidFill>
          <a:ln w="12700">
            <a:solidFill>
              <a:srgbClr val="7A2D3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70448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AC2"/>
                </a:solidFill>
              </a:rPr>
              <a:t>Possible Duplicate Detected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870448" y="406908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AF2FF"/>
                </a:solidFill>
              </a:rPr>
              <a:t>AI compares the new report to open Firestore needs and asks the coordinator to cancel, create anyway, or link related reports.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5870448" y="4590288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FBBC04">
              <a:alpha val="18000"/>
            </a:srgbClr>
          </a:solidFill>
          <a:ln w="12700">
            <a:solidFill>
              <a:srgbClr val="FBBC04">
                <a:alpha val="6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43600" y="467258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C04"/>
                </a:solidFill>
              </a:rPr>
              <a:t>Create Anyway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7223760" y="4590288"/>
            <a:ext cx="713232" cy="310896"/>
          </a:xfrm>
          <a:prstGeom prst="roundRect">
            <a:avLst>
              <a:gd name="adj" fmla="val 17647"/>
            </a:avLst>
          </a:prstGeom>
          <a:solidFill>
            <a:srgbClr val="EA4335">
              <a:alpha val="18000"/>
            </a:srgbClr>
          </a:solidFill>
          <a:ln w="12700">
            <a:solidFill>
              <a:srgbClr val="EA4335">
                <a:alpha val="6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96912" y="467258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</a:rPr>
              <a:t>Cancel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777240" y="57424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97487"/>
                </a:solidFill>
              </a:rPr>
              <a:t>Note: internal dashboard screenshots are represented as editable states because the deployed app requires Google sign-in.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ROADMAP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details / future development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</a:rPr>
              <a:t>v1.1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57276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Hardening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60520" y="1554480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FF"/>
                </a:solidFill>
              </a:rPr>
              <a:t>Move direct fallback off in production; enforce Cloud Functions + Secret Manager for all Gemini calls.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68680" y="25054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</a:rPr>
              <a:t>v1.2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50545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Offline-first PWA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60520" y="2487168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FF"/>
                </a:solidFill>
              </a:rPr>
              <a:t>Cache reports locally and sync when rural field workers reconnect.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68680" y="34381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C04"/>
                </a:solidFill>
              </a:rPr>
              <a:t>v1.3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43814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WhatsApp intake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60520" y="3419856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FF"/>
                </a:solidFill>
              </a:rPr>
              <a:t>Accept citizen/field-worker voice notes and route them through the same Gemini pipeline.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v2.0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437083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Predictive resource mapping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60520" y="4352544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FF"/>
                </a:solidFill>
              </a:rPr>
              <a:t>Use historical Firestore trends to anticipate shortages and surge needs.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84048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2296"/>
            <a:ext cx="38404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82296"/>
            <a:ext cx="4510735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12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D1C5"/>
                </a:solidFill>
              </a:rPr>
              <a:t>PROTOTYPE ACCESS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7863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" y="1691640"/>
            <a:ext cx="9966960" cy="749808"/>
          </a:xfrm>
          <a:prstGeom prst="roundRect">
            <a:avLst>
              <a:gd name="adj" fmla="val 9756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920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</a:rPr>
              <a:t>MVP / Working Prototype</a:t>
            </a:r>
            <a:endParaRPr lang="en-US" sz="11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3977640" y="190195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u="sng" dirty="0">
                <a:solidFill>
                  <a:srgbClr val="4FD1C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https://smart-resource-allocatio-3e4d2.web.app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2834640"/>
            <a:ext cx="9966960" cy="749808"/>
          </a:xfrm>
          <a:prstGeom prst="roundRect">
            <a:avLst>
              <a:gd name="adj" fmla="val 9756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063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</a:rPr>
              <a:t>GitHub Public Repository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304495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Add public repo URL before final submission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3977640"/>
            <a:ext cx="9966960" cy="749808"/>
          </a:xfrm>
          <a:prstGeom prst="roundRect">
            <a:avLst>
              <a:gd name="adj" fmla="val 9756"/>
            </a:avLst>
          </a:prstGeom>
          <a:solidFill>
            <a:srgbClr val="0E1422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2062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</a:rPr>
              <a:t>Demo Video Link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418795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Add YouTube unlisted link before final submission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7552" y="5522976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</a:rPr>
              <a:t>Submission reminder: replace the two placeholders after your GitHub repo is public and the 3-minute demo video is uploaded.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AidFlow  |  Google Solution Challenge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AidFlow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AidFlow - AI-Powered NGO Coordination</dc:title>
  <dc:subject>Google Solution Challenge 2026 prototype presentation</dc:subject>
  <dc:creator>AidFlow</dc:creator>
  <cp:lastModifiedBy>AidFlow</cp:lastModifiedBy>
  <cp:revision>1</cp:revision>
  <dcterms:created xsi:type="dcterms:W3CDTF">2026-04-28T13:08:07Z</dcterms:created>
  <dcterms:modified xsi:type="dcterms:W3CDTF">2026-04-28T13:08:07Z</dcterms:modified>
</cp:coreProperties>
</file>